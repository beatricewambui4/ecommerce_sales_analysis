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64" r:id="rId11"/>
    <p:sldId id="265" r:id="rId12"/>
    <p:sldId id="283" r:id="rId13"/>
    <p:sldId id="266" r:id="rId14"/>
    <p:sldId id="267" r:id="rId15"/>
    <p:sldId id="268" r:id="rId16"/>
    <p:sldId id="269" r:id="rId17"/>
    <p:sldId id="284" r:id="rId18"/>
    <p:sldId id="271" r:id="rId19"/>
    <p:sldId id="272" r:id="rId20"/>
    <p:sldId id="293" r:id="rId21"/>
    <p:sldId id="285" r:id="rId22"/>
    <p:sldId id="274" r:id="rId23"/>
    <p:sldId id="286" r:id="rId24"/>
    <p:sldId id="275" r:id="rId25"/>
    <p:sldId id="287" r:id="rId26"/>
    <p:sldId id="276" r:id="rId27"/>
    <p:sldId id="290" r:id="rId28"/>
    <p:sldId id="288" r:id="rId29"/>
    <p:sldId id="277" r:id="rId30"/>
    <p:sldId id="291" r:id="rId31"/>
    <p:sldId id="278" r:id="rId32"/>
    <p:sldId id="28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DA8A-B638-DB7A-FEBD-AB7095FBB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D4D0C-F03C-3DCF-8598-0AB3B93F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95A42-AF84-26FD-C40B-53A9DBEB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5ECC1-5951-6C9C-3277-290A02F4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8CD9E-3CCF-EEE5-D736-D9FC8B36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7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F5A0-8EE7-054F-E0A1-7799FA01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EEB40-9B4A-1416-D350-3BC22B7D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87930-5EB6-7ED9-7953-59310C63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9368F-C16A-CBB5-86A8-A0733183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ABE64-6153-8AD3-5E37-EBD7E33D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BCCC-962C-F406-BB98-FA3F3541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9CAB5-4884-59A3-CE28-0FA412F88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E4001-15F5-AB47-6D4B-AAF45737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54FE-026B-5AAC-B22B-E37F8CA7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6DB04-29A4-6C6C-0F0E-1569F5594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0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A2CE-9156-5A66-32FE-61DBFCDD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B7CC-035F-C4AC-60F0-5C13C7D86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E9CC1-E697-4329-B247-D443C0525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2DB02-38E5-CF17-C594-E491AA19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C5766-7952-BC9F-8609-AD1289C8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B128F-72B5-4910-EE40-C39182BE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5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A30E-F72C-8626-EC9B-0FC44627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08674-08B8-2C7B-D8A0-BD6EE67E4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2C0A2-F677-44E0-7EDD-55D61DEDD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838E1-DD6E-AD86-25D0-E161B16C9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845D4-51F5-FD5F-935C-5F3B5E21A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5F8F0B-EBB5-14DA-480C-918F63C1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61530-3A81-D043-EE34-8059358D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876AD-AC31-19A5-7EC0-D1A51EB8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2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FE05-139B-591D-D6B0-F0FD0346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633A9-DB19-AE43-DF82-360F80F47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9AB49-E149-DE1E-8484-2F69BF03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B72A6-CE69-C325-716F-A4B02C20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0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62B61-A9B2-2379-4BB8-BE4759B7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CBD85-E706-4F0B-49B1-2ED2B225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7CA04-5844-6A30-AF62-3B6D3BDE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3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BD69-3BA7-2739-D729-8203E494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735E0-81B8-7594-91A5-D74B42DFA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21120-EB2D-D584-D3EF-6364B9E89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35772-EB11-EFD7-F2FA-B40C9614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C424C-0F52-C24B-862E-E2E83DF4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A5057-44CA-33C6-EEE3-8A1584F1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3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9967-3317-E647-24A5-B4B14DDA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F8C33-57B8-69BA-1BBC-C7A2844AA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B16B5-DA8E-C73A-75F1-0E77CEAAD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C5608-4B75-A153-3868-10C36045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2995A-EAD9-3E37-5EA9-833D1206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415EE-383F-4937-B69C-608D1FDA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7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7EBF-E05D-6092-B14C-10801A41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A2BC4-E890-B989-5EBE-7D3F570E9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5553-D959-D9AF-0509-B6A2CBC8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944C3-F416-7574-079B-D2272AFE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C97E5-64B7-A03B-E52D-D2123C1C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79403-97E0-FA9B-F972-7ACFDD648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E8904-2F0F-065A-E9E3-BDAC42A2D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6661B-584F-FB1B-A8B4-57D652DE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3315-BE5A-0893-26E4-139C070E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103E7-ED88-3ED8-320B-352A252A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70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100C9-6368-D3E6-336E-98760D95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84817-2369-536B-1D65-9B9500E00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A388C-527E-A2EC-448D-2C18ACA7A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160C4-2BD9-4269-9025-4F9559C7334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519FF-EB04-8818-9EB5-45D79652E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74A2E-CE4B-1A1F-91E4-2F1413599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50D2-4E79-43BA-A05C-E26ADB64A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1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208D-3C7D-9A08-02AA-568584FAD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C0C0C0"/>
                </a:highlight>
              </a:rPr>
              <a:t>USA Retail Sales Performance Analysis (2011–2014)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D3E92-8A44-3C92-808A-6E606A82C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A Deep Dive into Sales, Profit, and Market Performance Across US Regions</a:t>
            </a:r>
          </a:p>
        </p:txBody>
      </p:sp>
    </p:spTree>
    <p:extLst>
      <p:ext uri="{BB962C8B-B14F-4D97-AF65-F5344CB8AC3E}">
        <p14:creationId xmlns:p14="http://schemas.microsoft.com/office/powerpoint/2010/main" val="379069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1DA0-B095-5C4B-50E3-630AEE06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KPI’S</a:t>
            </a:r>
            <a:br>
              <a:rPr lang="en-US" dirty="0"/>
            </a:br>
            <a:r>
              <a:rPr lang="en-US" sz="2400" b="1" dirty="0"/>
              <a:t>Total 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7C4EB-F33E-090B-8387-E72B045B4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SUM(Sales) AS </a:t>
            </a:r>
            <a:r>
              <a:rPr lang="en-US" dirty="0" err="1"/>
              <a:t>Total_Revenue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B4FBA-891D-16CB-4661-6D826C257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26898"/>
            <a:ext cx="4057358" cy="184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0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0A54-445B-C636-B3D0-B6B18F10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Total Quantity sold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44181-64A5-3067-FB60-7C0517A76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SUM(Quantity) AS </a:t>
            </a:r>
            <a:r>
              <a:rPr lang="en-US" dirty="0" err="1"/>
              <a:t>TotalQuantity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A0F63-2B18-9C9D-5331-229B3A09D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87" y="3699802"/>
            <a:ext cx="4091061" cy="215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92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EB70-D6FC-6A3F-07C8-4A630A02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Count of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71FFA-C943-39A7-6742-2FD1A6EB7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COUNT(DISTINCT </a:t>
            </a:r>
            <a:r>
              <a:rPr lang="en-US" dirty="0" err="1"/>
              <a:t>Customer_ID</a:t>
            </a:r>
            <a:r>
              <a:rPr lang="en-US" dirty="0"/>
              <a:t>) AS </a:t>
            </a:r>
            <a:r>
              <a:rPr lang="en-US" dirty="0" err="1"/>
              <a:t>Total_Customers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AFA7E-24D7-0217-DA24-3B076E560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27" y="3495821"/>
            <a:ext cx="4201258" cy="231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87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E02B-3873-111B-A72F-6B819031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Number of 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77AA-44D1-E1ED-FDC5-21E42BF78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COUNT(DISTINCT 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TotalOrders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22E77-2B54-2520-E2E6-9DCB5F7EC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56" y="3577736"/>
            <a:ext cx="3968261" cy="216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7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D19C-F28D-59CF-AFD7-5FAF2280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Total Profit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A28AC-E702-B048-7C05-3975DD49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</a:p>
          <a:p>
            <a:r>
              <a:rPr lang="en-US" dirty="0"/>
              <a:t>SUM(Profit) AS </a:t>
            </a:r>
            <a:r>
              <a:rPr lang="en-US" dirty="0" err="1"/>
              <a:t>TotalProfit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90989-17F9-277B-4ACB-46BE1FCFE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91365"/>
            <a:ext cx="3972951" cy="193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3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62F6-A3C3-31EC-CBA9-40ABFA97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Profit Margin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7C1-5EE6-C95C-5DEA-29606608E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ROUND(SUM(Profit)/SUM(Sales)*100,2) AS </a:t>
            </a:r>
            <a:r>
              <a:rPr lang="en-US" dirty="0" err="1"/>
              <a:t>Profit_Margin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9A0962-1329-30F6-8B1A-3E4EA71CE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428" y="4001294"/>
            <a:ext cx="4115972" cy="20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2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B268-0970-F378-17C9-490B117E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average order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A8F92-A6C8-560E-6207-B958FF1BE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SUM(Sales)/COUNT(DISTINCT 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Average_Order_Value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8DA1C-CCA9-DB44-1633-A3DEF177E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85" y="3638770"/>
            <a:ext cx="3488715" cy="207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4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1ECB-EBF1-D44C-B4E0-83ADC956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Executive Sales 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0893F-C52C-B045-4071-EB35A3D9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Kalundu</a:t>
            </a:r>
            <a:r>
              <a:rPr lang="en-US" dirty="0"/>
              <a:t> generated total revenue of </a:t>
            </a:r>
            <a:r>
              <a:rPr lang="en-US" b="1" dirty="0"/>
              <a:t>$2,297,200.86</a:t>
            </a:r>
            <a:r>
              <a:rPr lang="en-US" dirty="0"/>
              <a:t> across 2011–2014, suggesting strong and consistent performance over the period. From </a:t>
            </a:r>
            <a:r>
              <a:rPr lang="en-US" b="1" dirty="0"/>
              <a:t>37,873</a:t>
            </a:r>
            <a:r>
              <a:rPr lang="en-US" dirty="0"/>
              <a:t> total units sold across </a:t>
            </a:r>
            <a:r>
              <a:rPr lang="en-US" b="1" dirty="0"/>
              <a:t>5,009</a:t>
            </a:r>
            <a:r>
              <a:rPr lang="en-US" dirty="0"/>
              <a:t> unique orders placed by </a:t>
            </a:r>
            <a:r>
              <a:rPr lang="en-US" b="1" dirty="0"/>
              <a:t>793</a:t>
            </a:r>
            <a:r>
              <a:rPr lang="en-US" dirty="0"/>
              <a:t> unique customers, the average quantity per order was approximately </a:t>
            </a:r>
            <a:r>
              <a:rPr lang="en-US" b="1" dirty="0"/>
              <a:t>7.5 units</a:t>
            </a:r>
            <a:r>
              <a:rPr lang="en-US" dirty="0"/>
              <a:t>, and each customer placed an average of </a:t>
            </a:r>
            <a:r>
              <a:rPr lang="en-US" b="1" dirty="0"/>
              <a:t>~6.3 orders</a:t>
            </a:r>
            <a:r>
              <a:rPr lang="en-US" dirty="0"/>
              <a:t> over the period. Total profit recorded was </a:t>
            </a:r>
            <a:r>
              <a:rPr lang="en-US" b="1" dirty="0"/>
              <a:t>$286,397.47</a:t>
            </a:r>
            <a:r>
              <a:rPr lang="en-US" dirty="0"/>
              <a:t>, with a profit margin of </a:t>
            </a:r>
            <a:r>
              <a:rPr lang="en-US" b="1" dirty="0"/>
              <a:t>12.47%</a:t>
            </a:r>
            <a:r>
              <a:rPr lang="en-US" dirty="0"/>
              <a:t>, reflecting a healthy and sustainable level of profitability.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B489-3517-B156-009A-D3E76A7D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Top 10 Cities that generates most 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B946A-7963-3913-7AB0-3C55F40B5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City,</a:t>
            </a:r>
          </a:p>
          <a:p>
            <a:r>
              <a:rPr lang="en-US" dirty="0"/>
              <a:t>SUM(Sales) AS </a:t>
            </a:r>
            <a:r>
              <a:rPr lang="en-US" dirty="0" err="1"/>
              <a:t>Total_Revenue_Per_City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City</a:t>
            </a:r>
          </a:p>
          <a:p>
            <a:r>
              <a:rPr lang="en-US" dirty="0"/>
              <a:t>ORDER BY </a:t>
            </a:r>
            <a:r>
              <a:rPr lang="en-US" dirty="0" err="1"/>
              <a:t>Total_Revenue_Per_City</a:t>
            </a:r>
            <a:r>
              <a:rPr lang="en-US" dirty="0"/>
              <a:t> DESC</a:t>
            </a:r>
          </a:p>
          <a:p>
            <a:r>
              <a:rPr lang="en-US" dirty="0"/>
              <a:t>LIMIT 10;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45D6C-0571-165B-03C9-5AE44BDFD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527" y="1825625"/>
            <a:ext cx="3209559" cy="331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66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B26AF-1FF8-DE75-C2A4-554BE16D7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Top 10 cities that sells most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1123-2C9B-4A26-74E3-EAEF3122A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94"/>
            <a:ext cx="10515600" cy="4631569"/>
          </a:xfrm>
        </p:spPr>
        <p:txBody>
          <a:bodyPr>
            <a:norm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City,</a:t>
            </a:r>
          </a:p>
          <a:p>
            <a:r>
              <a:rPr lang="en-US" dirty="0"/>
              <a:t>SUM(Quantity) AS </a:t>
            </a:r>
            <a:r>
              <a:rPr lang="en-US" dirty="0" err="1"/>
              <a:t>Total_Orders_BY_City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City</a:t>
            </a:r>
          </a:p>
          <a:p>
            <a:r>
              <a:rPr lang="en-US" dirty="0"/>
              <a:t>ORDER BY </a:t>
            </a:r>
            <a:r>
              <a:rPr lang="en-US" dirty="0" err="1"/>
              <a:t>Total_Orders_BY_City</a:t>
            </a:r>
            <a:r>
              <a:rPr lang="en-US" dirty="0"/>
              <a:t> DESC</a:t>
            </a:r>
          </a:p>
          <a:p>
            <a:r>
              <a:rPr lang="en-US" dirty="0"/>
              <a:t>LIMIT 10;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9B7770-71C9-0EC2-1BF2-2D08E7305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123" y="2152358"/>
            <a:ext cx="3333677" cy="316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1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59B5-2C21-01F3-D86C-83E2C8C9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00FFFF"/>
                </a:highlight>
              </a:rPr>
              <a:t>Regional City Revenue Breakdown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CCB96-F745-218F-4772-F6CABA2C0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Among all cities, </a:t>
            </a:r>
            <a:r>
              <a:rPr lang="en-US" b="1" dirty="0"/>
              <a:t>New York City</a:t>
            </a:r>
            <a:r>
              <a:rPr lang="en-US" dirty="0"/>
              <a:t> led revenue generation with </a:t>
            </a:r>
            <a:r>
              <a:rPr lang="en-US" b="1" dirty="0"/>
              <a:t>$256,368.16</a:t>
            </a:r>
            <a:r>
              <a:rPr lang="en-US" dirty="0"/>
              <a:t>, followed by Los Angeles, Philadelphia, San Francisco, Seattle, Houston, Chicago, Columbus, San Diego, and Springfield in descending order. New York City also recorded the highest quantity sold at </a:t>
            </a:r>
            <a:r>
              <a:rPr lang="en-US" b="1" dirty="0"/>
              <a:t>3,417 units</a:t>
            </a:r>
            <a:r>
              <a:rPr lang="en-US" dirty="0"/>
              <a:t>, maintaining the same city ranking pattern across both metrics.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49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C926-A0DA-FE78-575B-6BCAC8FC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Category that generates most revenue</a:t>
            </a:r>
            <a:b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D205-9FB0-EE64-9D5F-06457A989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Category,</a:t>
            </a:r>
          </a:p>
          <a:p>
            <a:r>
              <a:rPr lang="en-US" dirty="0"/>
              <a:t>SUM(Sales) AS </a:t>
            </a:r>
            <a:r>
              <a:rPr lang="en-US" dirty="0" err="1"/>
              <a:t>Revenue_By_Category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Category</a:t>
            </a:r>
          </a:p>
          <a:p>
            <a:r>
              <a:rPr lang="en-US" dirty="0"/>
              <a:t>ORDER BY </a:t>
            </a:r>
            <a:r>
              <a:rPr lang="en-US" dirty="0" err="1"/>
              <a:t>Revenue_By_Category</a:t>
            </a:r>
            <a:r>
              <a:rPr lang="en-US" dirty="0"/>
              <a:t> DESC;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199A9-F2C8-FC1C-F3CD-CB76FBB0F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436" y="2135114"/>
            <a:ext cx="3754755" cy="222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82D3-FD39-5C18-79D1-17E608FE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units sold by category</a:t>
            </a:r>
            <a:b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85EE-7644-53F7-7A53-F634976D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Category,</a:t>
            </a:r>
          </a:p>
          <a:p>
            <a:r>
              <a:rPr lang="en-US" dirty="0"/>
              <a:t>SUM(Quantity) AS </a:t>
            </a:r>
            <a:r>
              <a:rPr lang="en-US" dirty="0" err="1"/>
              <a:t>Total_Orders_By_Category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Category</a:t>
            </a:r>
          </a:p>
          <a:p>
            <a:r>
              <a:rPr lang="en-US" dirty="0"/>
              <a:t>ORDER BY </a:t>
            </a:r>
            <a:r>
              <a:rPr lang="en-US" dirty="0" err="1"/>
              <a:t>Total_Orders_By_Category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4A707-E7C3-121F-3485-B9DA26996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871" y="2738437"/>
            <a:ext cx="3248538" cy="190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67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832B-411B-7200-B7C5-89679E7A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revenue by </a:t>
            </a:r>
            <a:r>
              <a:rPr lang="en-US" dirty="0" err="1">
                <a:solidFill>
                  <a:schemeClr val="accent2"/>
                </a:solidFill>
                <a:highlight>
                  <a:srgbClr val="00FF00"/>
                </a:highlight>
              </a:rPr>
              <a:t>sub_category</a:t>
            </a: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69FD3-82CE-53D9-7376-45090955A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 err="1"/>
              <a:t>Sub_Category</a:t>
            </a:r>
            <a:r>
              <a:rPr lang="en-US" dirty="0"/>
              <a:t>,</a:t>
            </a:r>
          </a:p>
          <a:p>
            <a:r>
              <a:rPr lang="en-US" dirty="0"/>
              <a:t>SUM(Sales) AS </a:t>
            </a:r>
            <a:r>
              <a:rPr lang="en-US" dirty="0" err="1"/>
              <a:t>Revenue_By_Subcategory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Sub_Category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Revenue_By_Subcategory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F1C57-FFCE-B515-8BC2-6524821A1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621" y="1081002"/>
            <a:ext cx="3996397" cy="393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37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069D-BF00-D979-0DB3-70D704C7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units sold by subcategory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54216-06B8-1E06-EA75-6F9471BE6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 err="1"/>
              <a:t>Sub_Category</a:t>
            </a:r>
            <a:r>
              <a:rPr lang="en-US" dirty="0"/>
              <a:t>,</a:t>
            </a:r>
          </a:p>
          <a:p>
            <a:r>
              <a:rPr lang="en-US" dirty="0"/>
              <a:t>SUM(Quantity) AS </a:t>
            </a:r>
            <a:r>
              <a:rPr lang="en-US" dirty="0" err="1"/>
              <a:t>Total_orders_by_subcategory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Sub_Category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Total_orders_by_subcategory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1ABA3-5704-16D5-B519-6E612802D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893" y="1825625"/>
            <a:ext cx="3324225" cy="387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89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A099-9EDE-9784-D541-99AEF7D3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Product Category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0C1C-5DD4-3A60-054E-86C90E007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By category, </a:t>
            </a:r>
            <a:r>
              <a:rPr lang="en-US" b="1" dirty="0"/>
              <a:t>Technology</a:t>
            </a:r>
            <a:r>
              <a:rPr lang="en-US" dirty="0"/>
              <a:t> generated the highest revenue at </a:t>
            </a:r>
            <a:r>
              <a:rPr lang="en-US" b="1" dirty="0"/>
              <a:t>$836,154.03</a:t>
            </a:r>
            <a:r>
              <a:rPr lang="en-US" dirty="0"/>
              <a:t>, followed by Furniture at </a:t>
            </a:r>
            <a:r>
              <a:rPr lang="en-US" b="1" dirty="0"/>
              <a:t>$741,999.79</a:t>
            </a:r>
            <a:r>
              <a:rPr lang="en-US" dirty="0"/>
              <a:t> and Office Supplies at </a:t>
            </a:r>
            <a:r>
              <a:rPr lang="en-US" b="1" dirty="0"/>
              <a:t>$719,047.03</a:t>
            </a:r>
            <a:r>
              <a:rPr lang="en-US" dirty="0"/>
              <a:t>. Notably, Office Supplies recorded the most orders at </a:t>
            </a:r>
            <a:r>
              <a:rPr lang="en-US" b="1" dirty="0"/>
              <a:t>22,906</a:t>
            </a:r>
            <a:r>
              <a:rPr lang="en-US" dirty="0"/>
              <a:t>, while Technology had the fewest at </a:t>
            </a:r>
            <a:r>
              <a:rPr lang="en-US" b="1" dirty="0"/>
              <a:t>6,939</a:t>
            </a:r>
            <a:r>
              <a:rPr lang="en-US" dirty="0"/>
              <a:t> — demonstrating that Technology products drive high revenue despite lower order volumes.</a:t>
            </a:r>
          </a:p>
          <a:p>
            <a:r>
              <a:rPr lang="en-US" dirty="0"/>
              <a:t>At the subcategory level, </a:t>
            </a:r>
            <a:r>
              <a:rPr lang="en-US" b="1" dirty="0"/>
              <a:t>Phones</a:t>
            </a:r>
            <a:r>
              <a:rPr lang="en-US" dirty="0"/>
              <a:t> topped revenue at </a:t>
            </a:r>
            <a:r>
              <a:rPr lang="en-US" b="1" dirty="0"/>
              <a:t>$330,007.05</a:t>
            </a:r>
            <a:r>
              <a:rPr lang="en-US" dirty="0"/>
              <a:t>, followed closely by Chairs at </a:t>
            </a:r>
            <a:r>
              <a:rPr lang="en-US" b="1" dirty="0"/>
              <a:t>$328,449.10</a:t>
            </a:r>
            <a:r>
              <a:rPr lang="en-US" dirty="0"/>
              <a:t>. The remaining subcategories in descending order were: Storage, Tables, Binders, Machines, Accessories, Copiers, Bookcases, Appliances, Furnishings, Paper, Supplies, Art, Envelopes, Labels, and Fasteners. Technology subcategories dominated the upper rankings, reinforcing the category-level trend.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699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6496-48A3-8AF7-47EE-52C9553F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Revenue generated per day</a:t>
            </a:r>
            <a:b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7612B-9521-3514-AC13-38B179E90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DAYNAME(</a:t>
            </a:r>
            <a:r>
              <a:rPr lang="en-US" dirty="0" err="1"/>
              <a:t>Order_Date</a:t>
            </a:r>
            <a:r>
              <a:rPr lang="en-US" dirty="0"/>
              <a:t>) AS </a:t>
            </a:r>
            <a:r>
              <a:rPr lang="en-US" dirty="0" err="1"/>
              <a:t>Day_Generates_Most_Revenue</a:t>
            </a:r>
            <a:r>
              <a:rPr lang="en-US" dirty="0"/>
              <a:t>,</a:t>
            </a:r>
          </a:p>
          <a:p>
            <a:r>
              <a:rPr lang="en-US" dirty="0"/>
              <a:t>SUM(Sales) AS </a:t>
            </a:r>
            <a:r>
              <a:rPr lang="en-US" dirty="0" err="1"/>
              <a:t>Total_Revenue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Day_Generates_Most_Revenue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Total_Revenue</a:t>
            </a:r>
            <a:r>
              <a:rPr lang="en-US" dirty="0"/>
              <a:t> DESC;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3C5AB-2908-368A-81A4-9A00EDD73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740" y="2819534"/>
            <a:ext cx="3559346" cy="272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37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A614-779F-3666-FEFA-5F4495C2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Revenue generated per month</a:t>
            </a:r>
            <a:b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10FD8-A4E0-7E4D-3D32-EF26135C7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/>
              <a:t>MONTHNAME(</a:t>
            </a:r>
            <a:r>
              <a:rPr lang="en-US" dirty="0" err="1"/>
              <a:t>Order_Date</a:t>
            </a:r>
            <a:r>
              <a:rPr lang="en-US" dirty="0"/>
              <a:t>) AS </a:t>
            </a:r>
            <a:r>
              <a:rPr lang="en-US" dirty="0" err="1"/>
              <a:t>Month_Name</a:t>
            </a:r>
            <a:r>
              <a:rPr lang="en-US" dirty="0"/>
              <a:t>,</a:t>
            </a:r>
          </a:p>
          <a:p>
            <a:r>
              <a:rPr lang="en-US" dirty="0"/>
              <a:t>SUM(Sales) AS </a:t>
            </a:r>
            <a:r>
              <a:rPr lang="en-US" dirty="0" err="1"/>
              <a:t>Monthly_Sales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Month_Name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Monthly_Sales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AEB68-8594-E360-9031-0FD1F14DD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452" y="2841039"/>
            <a:ext cx="3365841" cy="321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7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2580-A432-2CD5-6893-F1F96202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MOM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B3757-5BD5-5304-DD79-1F723F52FB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MONTHNAME(</a:t>
            </a:r>
            <a:r>
              <a:rPr lang="en-US" dirty="0" err="1"/>
              <a:t>Order_Date</a:t>
            </a:r>
            <a:r>
              <a:rPr lang="en-US" dirty="0"/>
              <a:t>)          AS </a:t>
            </a:r>
            <a:r>
              <a:rPr lang="en-US" dirty="0" err="1"/>
              <a:t>Month_Name</a:t>
            </a:r>
            <a:r>
              <a:rPr lang="en-US" dirty="0"/>
              <a:t>,</a:t>
            </a:r>
          </a:p>
          <a:p>
            <a:r>
              <a:rPr lang="en-US" dirty="0"/>
              <a:t>  MONTH(</a:t>
            </a:r>
            <a:r>
              <a:rPr lang="en-US" dirty="0" err="1"/>
              <a:t>Order_Date</a:t>
            </a:r>
            <a:r>
              <a:rPr lang="en-US" dirty="0"/>
              <a:t>)              AS </a:t>
            </a:r>
            <a:r>
              <a:rPr lang="en-US" dirty="0" err="1"/>
              <a:t>Month_Num</a:t>
            </a:r>
            <a:r>
              <a:rPr lang="en-US" dirty="0"/>
              <a:t>,</a:t>
            </a:r>
          </a:p>
          <a:p>
            <a:r>
              <a:rPr lang="en-US" dirty="0"/>
              <a:t>  ROUND(SUM(Sales), 2)           AS </a:t>
            </a:r>
            <a:r>
              <a:rPr lang="en-US" dirty="0" err="1"/>
              <a:t>Monthly_Revenue</a:t>
            </a:r>
            <a:r>
              <a:rPr lang="en-US" dirty="0"/>
              <a:t>,</a:t>
            </a:r>
          </a:p>
          <a:p>
            <a:r>
              <a:rPr lang="en-US" dirty="0"/>
              <a:t>  ROUND(SUM(Profit), 2)          AS </a:t>
            </a:r>
            <a:r>
              <a:rPr lang="en-US" dirty="0" err="1"/>
              <a:t>Monthly_Profit</a:t>
            </a:r>
            <a:r>
              <a:rPr lang="en-US" dirty="0"/>
              <a:t>,</a:t>
            </a:r>
          </a:p>
          <a:p>
            <a:r>
              <a:rPr lang="en-US" dirty="0"/>
              <a:t>  COUNT(DISTINCT </a:t>
            </a:r>
            <a:r>
              <a:rPr lang="en-US" dirty="0" err="1"/>
              <a:t>Order_ID</a:t>
            </a:r>
            <a:r>
              <a:rPr lang="en-US" dirty="0"/>
              <a:t>)       AS </a:t>
            </a:r>
            <a:r>
              <a:rPr lang="en-US" dirty="0" err="1"/>
              <a:t>Orders_Count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 </a:t>
            </a:r>
            <a:r>
              <a:rPr lang="en-US" dirty="0" err="1"/>
              <a:t>Month_Name</a:t>
            </a:r>
            <a:r>
              <a:rPr lang="en-US" dirty="0"/>
              <a:t>, </a:t>
            </a:r>
            <a:r>
              <a:rPr lang="en-US" dirty="0" err="1"/>
              <a:t>Month_Num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Month_Num</a:t>
            </a:r>
            <a:r>
              <a:rPr lang="en-US" dirty="0"/>
              <a:t> ASC;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75B0DB-ABB5-080E-0F07-1B12655217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049" y="2250831"/>
            <a:ext cx="4667901" cy="31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06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E82F-C70D-5255-A40D-7695E20D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Temporal Sales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D36E-9538-45DA-007E-472C58A16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Friday</a:t>
            </a:r>
            <a:r>
              <a:rPr lang="en-US" dirty="0"/>
              <a:t> recorded the highest daily revenue at </a:t>
            </a:r>
            <a:r>
              <a:rPr lang="en-US" b="1" dirty="0"/>
              <a:t>$450,215.58</a:t>
            </a:r>
            <a:r>
              <a:rPr lang="en-US" dirty="0"/>
              <a:t>, consistently outperforming other days, indicating that most orders are placed on Fridays.</a:t>
            </a:r>
          </a:p>
          <a:p>
            <a:r>
              <a:rPr lang="en-US" b="1" dirty="0"/>
              <a:t>November</a:t>
            </a:r>
            <a:r>
              <a:rPr lang="en-US" dirty="0"/>
              <a:t> led monthly revenue at </a:t>
            </a:r>
            <a:r>
              <a:rPr lang="en-US" b="1" dirty="0"/>
              <a:t>$349,120.07</a:t>
            </a:r>
            <a:r>
              <a:rPr lang="en-US" dirty="0"/>
              <a:t>, remaining the top-performing month over the years. </a:t>
            </a:r>
          </a:p>
        </p:txBody>
      </p:sp>
    </p:spTree>
    <p:extLst>
      <p:ext uri="{BB962C8B-B14F-4D97-AF65-F5344CB8AC3E}">
        <p14:creationId xmlns:p14="http://schemas.microsoft.com/office/powerpoint/2010/main" val="2939650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8921-86F3-1F45-4056-B46A78BD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/>
                </a:solidFill>
                <a:highlight>
                  <a:srgbClr val="00FF00"/>
                </a:highlight>
              </a:rPr>
              <a:t>YOY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4E38A-B97D-6E4A-16CE-6F7C5F27A2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</a:t>
            </a:r>
            <a:r>
              <a:rPr lang="en-US" dirty="0" err="1"/>
              <a:t>Year_Num</a:t>
            </a:r>
            <a:r>
              <a:rPr lang="en-US" dirty="0"/>
              <a:t>,</a:t>
            </a:r>
          </a:p>
          <a:p>
            <a:r>
              <a:rPr lang="en-US" dirty="0"/>
              <a:t>  ROUND(SUM(Sales), 2) AS </a:t>
            </a:r>
            <a:r>
              <a:rPr lang="en-US" dirty="0" err="1"/>
              <a:t>SalesPerYear</a:t>
            </a:r>
            <a:r>
              <a:rPr lang="en-US" dirty="0"/>
              <a:t>,</a:t>
            </a:r>
          </a:p>
          <a:p>
            <a:r>
              <a:rPr lang="en-US" dirty="0"/>
              <a:t>  ROUND(</a:t>
            </a:r>
          </a:p>
          <a:p>
            <a:r>
              <a:rPr lang="en-US" dirty="0"/>
              <a:t>    (SUM(Sales) - LAG(SUM(Sales)) OVER (ORDER BY </a:t>
            </a:r>
            <a:r>
              <a:rPr lang="en-US" dirty="0" err="1"/>
              <a:t>Year_Num</a:t>
            </a:r>
            <a:r>
              <a:rPr lang="en-US" dirty="0"/>
              <a:t>)) /</a:t>
            </a:r>
          </a:p>
          <a:p>
            <a:r>
              <a:rPr lang="en-US" dirty="0"/>
              <a:t>     LAG(SUM(Sales)) OVER (ORDER BY </a:t>
            </a:r>
            <a:r>
              <a:rPr lang="en-US" dirty="0" err="1"/>
              <a:t>Year_Num</a:t>
            </a:r>
            <a:r>
              <a:rPr lang="en-US" dirty="0"/>
              <a:t>) * 100, 2</a:t>
            </a:r>
          </a:p>
          <a:p>
            <a:r>
              <a:rPr lang="en-US" dirty="0"/>
              <a:t>  ) AS </a:t>
            </a:r>
            <a:r>
              <a:rPr lang="en-US" dirty="0" err="1"/>
              <a:t>YOY_Growth_Pct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Year_Num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Year_Num</a:t>
            </a:r>
            <a:r>
              <a:rPr lang="en-US" dirty="0"/>
              <a:t> ASC;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15EC54-D49E-EEF3-CD9C-58F425F2C2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898" y="2377441"/>
            <a:ext cx="3335999" cy="24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48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3C63-74A2-1F47-4CDD-066A9BE6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Annual Revenue Growth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2B1B5-A1E0-1662-A0F7-4E469B34D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Year-over-year, 2012 saw a slight decline of </a:t>
            </a:r>
            <a:r>
              <a:rPr lang="en-US" b="1" dirty="0"/>
              <a:t>-2.83%</a:t>
            </a:r>
            <a:r>
              <a:rPr lang="en-US" dirty="0"/>
              <a:t>, followed by a strong recovery of </a:t>
            </a:r>
            <a:r>
              <a:rPr lang="en-US" b="1" dirty="0"/>
              <a:t>29.32%</a:t>
            </a:r>
            <a:r>
              <a:rPr lang="en-US" dirty="0"/>
              <a:t> in 2013 and a further increase of </a:t>
            </a:r>
            <a:r>
              <a:rPr lang="en-US" b="1" dirty="0"/>
              <a:t>20.62%</a:t>
            </a:r>
            <a:r>
              <a:rPr lang="en-US" dirty="0"/>
              <a:t> in 2014, reflecting sustained revenue growth. The 2013 peak suggests that consistent marketing efforts had a significant impact.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42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A478-A76B-8566-765B-F1DB764B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  <a:highlight>
                  <a:srgbClr val="00FF00"/>
                </a:highlight>
              </a:rPr>
              <a:t>ship mode is most used and most profitable</a:t>
            </a:r>
            <a:b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1ED8-415E-C5A2-B834-F2F511D03F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SELECT</a:t>
            </a:r>
          </a:p>
          <a:p>
            <a:r>
              <a:rPr lang="en-US" dirty="0" err="1"/>
              <a:t>Ship_Mode</a:t>
            </a:r>
            <a:r>
              <a:rPr lang="en-US" dirty="0"/>
              <a:t>,</a:t>
            </a:r>
          </a:p>
          <a:p>
            <a:r>
              <a:rPr lang="en-US" dirty="0"/>
              <a:t>COUNT(DISTINCT 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r>
              <a:rPr lang="en-US" dirty="0"/>
              <a:t>,</a:t>
            </a:r>
          </a:p>
          <a:p>
            <a:r>
              <a:rPr lang="en-US" dirty="0"/>
              <a:t>SUM(Profit) AS </a:t>
            </a:r>
            <a:r>
              <a:rPr lang="en-US" dirty="0" err="1"/>
              <a:t>Total_Profit</a:t>
            </a:r>
            <a:r>
              <a:rPr lang="en-US" dirty="0"/>
              <a:t>,</a:t>
            </a:r>
          </a:p>
          <a:p>
            <a:r>
              <a:rPr lang="en-US" dirty="0"/>
              <a:t>SUM(Sales) AS </a:t>
            </a:r>
            <a:r>
              <a:rPr lang="en-US" dirty="0" err="1"/>
              <a:t>Total_Revenue</a:t>
            </a:r>
            <a:r>
              <a:rPr lang="en-US" dirty="0"/>
              <a:t>,</a:t>
            </a:r>
          </a:p>
          <a:p>
            <a:r>
              <a:rPr lang="en-US" dirty="0"/>
              <a:t>ROUND(SUM(Profit)/SUM(Sales)*100,2) AS </a:t>
            </a:r>
            <a:r>
              <a:rPr lang="en-US" dirty="0" err="1"/>
              <a:t>Profit_Margin</a:t>
            </a:r>
            <a:r>
              <a:rPr lang="en-US" dirty="0"/>
              <a:t>,</a:t>
            </a:r>
          </a:p>
          <a:p>
            <a:r>
              <a:rPr lang="en-US" dirty="0"/>
              <a:t>CEIL(AVG(DATEDIFF(</a:t>
            </a:r>
            <a:r>
              <a:rPr lang="en-US" dirty="0" err="1"/>
              <a:t>Ship_Date,Order_Date</a:t>
            </a:r>
            <a:r>
              <a:rPr lang="en-US" dirty="0"/>
              <a:t>))) AS </a:t>
            </a:r>
            <a:r>
              <a:rPr lang="en-US" dirty="0" err="1"/>
              <a:t>Average_Days_To_Deliver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Ship_Mode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Total_Revenue</a:t>
            </a:r>
            <a:r>
              <a:rPr lang="en-US" dirty="0"/>
              <a:t> DESC;</a:t>
            </a:r>
          </a:p>
          <a:p>
            <a:r>
              <a:rPr lang="en-US" dirty="0"/>
              <a:t>Standard class a ship mode </a:t>
            </a:r>
            <a:r>
              <a:rPr lang="en-US" dirty="0" err="1"/>
              <a:t>registed</a:t>
            </a:r>
            <a:r>
              <a:rPr lang="en-US" dirty="0"/>
              <a:t> the highest revenue in comparison of the other ship mode by 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20CC3B-35AE-66A3-86E8-3903CEEA4D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250831"/>
            <a:ext cx="5588391" cy="247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57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F94B-B9BE-DE9C-B0FF-F09C5C21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Shipping Preference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BF7B-FC31-5832-48C6-A99B104B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Standard Class</a:t>
            </a:r>
            <a:r>
              <a:rPr lang="en-US" dirty="0"/>
              <a:t> was the most preferred shipping mode, generating </a:t>
            </a:r>
            <a:r>
              <a:rPr lang="en-US" b="1" dirty="0"/>
              <a:t>$164,088.79</a:t>
            </a:r>
            <a:r>
              <a:rPr lang="en-US" dirty="0"/>
              <a:t>, followed by Second Class at </a:t>
            </a:r>
            <a:r>
              <a:rPr lang="en-US" b="1" dirty="0"/>
              <a:t>$57,446.63</a:t>
            </a:r>
            <a:r>
              <a:rPr lang="en-US" dirty="0"/>
              <a:t>, First Class at </a:t>
            </a:r>
            <a:r>
              <a:rPr lang="en-US" b="1" dirty="0"/>
              <a:t>$15,891.76</a:t>
            </a:r>
            <a:r>
              <a:rPr lang="en-US" dirty="0"/>
              <a:t>, and Same Day recording the least. This indicates Standard Class is the most affordable and widely used shipping option.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873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B196-EE6C-6ACA-057A-F13F8683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  <a:t>Segment that drives most value</a:t>
            </a:r>
            <a:b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B8347-BEF3-5AC0-9010-75BC5C45F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94228"/>
            <a:ext cx="5181600" cy="488273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Segment,</a:t>
            </a:r>
          </a:p>
          <a:p>
            <a:r>
              <a:rPr lang="en-US" dirty="0"/>
              <a:t>COUNT(DISTINCT 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r>
              <a:rPr lang="en-US" dirty="0"/>
              <a:t>,</a:t>
            </a:r>
          </a:p>
          <a:p>
            <a:r>
              <a:rPr lang="en-US" dirty="0"/>
              <a:t>SUM(Profit) AS </a:t>
            </a:r>
            <a:r>
              <a:rPr lang="en-US" dirty="0" err="1"/>
              <a:t>Total_Profit</a:t>
            </a:r>
            <a:r>
              <a:rPr lang="en-US" dirty="0"/>
              <a:t>,</a:t>
            </a:r>
          </a:p>
          <a:p>
            <a:r>
              <a:rPr lang="en-US" dirty="0"/>
              <a:t>SUM(Sales) AS </a:t>
            </a:r>
            <a:r>
              <a:rPr lang="en-US" dirty="0" err="1"/>
              <a:t>Total_Revenue</a:t>
            </a:r>
            <a:r>
              <a:rPr lang="en-US" dirty="0"/>
              <a:t>,</a:t>
            </a:r>
          </a:p>
          <a:p>
            <a:r>
              <a:rPr lang="en-US" dirty="0"/>
              <a:t>ROUND(SUM(Profit)/SUM(Sales)*100,2) AS </a:t>
            </a:r>
            <a:r>
              <a:rPr lang="en-US" dirty="0" err="1"/>
              <a:t>Profit_Margin</a:t>
            </a:r>
            <a:r>
              <a:rPr lang="en-US" dirty="0"/>
              <a:t>,</a:t>
            </a:r>
          </a:p>
          <a:p>
            <a:r>
              <a:rPr lang="en-US" dirty="0"/>
              <a:t>ROUND(SUM(Sales)/COUNT(DISTINCT </a:t>
            </a:r>
            <a:r>
              <a:rPr lang="en-US" dirty="0" err="1"/>
              <a:t>Customer_ID</a:t>
            </a:r>
            <a:r>
              <a:rPr lang="en-US" dirty="0"/>
              <a:t>), 2) AS </a:t>
            </a:r>
            <a:r>
              <a:rPr lang="en-US" dirty="0" err="1"/>
              <a:t>Revenue_Per_Customer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Segment</a:t>
            </a:r>
          </a:p>
          <a:p>
            <a:r>
              <a:rPr lang="en-US" dirty="0"/>
              <a:t>ORDER BY </a:t>
            </a:r>
            <a:r>
              <a:rPr lang="en-US" dirty="0" err="1"/>
              <a:t>Total_Revenue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8B4BDE-D115-5904-8D6B-F0286D114D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71003"/>
            <a:ext cx="5602458" cy="28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23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EF84-C6DB-BB00-2205-D73116D3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Top 10 Customers That generates most 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20E0-E0FF-5DCE-768F-B80CB2D056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  <a:p>
            <a:r>
              <a:rPr lang="en-US" dirty="0" err="1"/>
              <a:t>Customer_Name</a:t>
            </a:r>
            <a:r>
              <a:rPr lang="en-US" dirty="0"/>
              <a:t>,</a:t>
            </a:r>
          </a:p>
          <a:p>
            <a:r>
              <a:rPr lang="en-US" dirty="0"/>
              <a:t>SUM(Sales) AS </a:t>
            </a:r>
            <a:r>
              <a:rPr lang="en-US" dirty="0" err="1"/>
              <a:t>Revenue_by_Customer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Customer_Name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Revenue_by_Customer</a:t>
            </a:r>
            <a:r>
              <a:rPr lang="en-US" dirty="0"/>
              <a:t> DESC</a:t>
            </a:r>
          </a:p>
          <a:p>
            <a:r>
              <a:rPr lang="en-US" dirty="0"/>
              <a:t>LIMIT 10;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02FDB-8285-9B78-668C-A218F370E9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289" y="1825625"/>
            <a:ext cx="3567398" cy="34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79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636C-14A5-6B2F-A538-EF3C6E7F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00FFFF"/>
                </a:highlight>
              </a:rPr>
              <a:t>Customer Segment Performance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E8F5-7AD1-3761-5598-16BA8AD2E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customer side, </a:t>
            </a:r>
            <a:r>
              <a:rPr lang="en-US" b="1" dirty="0"/>
              <a:t>Sean Miller</a:t>
            </a:r>
            <a:r>
              <a:rPr lang="en-US" dirty="0"/>
              <a:t> was the top revenue-contributing customer, generating </a:t>
            </a:r>
            <a:r>
              <a:rPr lang="en-US" b="1" dirty="0"/>
              <a:t>$25,043.05</a:t>
            </a:r>
            <a:r>
              <a:rPr lang="en-US" dirty="0"/>
              <a:t> in total sales.</a:t>
            </a:r>
            <a:endParaRPr lang="en-US" b="1" dirty="0"/>
          </a:p>
          <a:p>
            <a:r>
              <a:rPr lang="en-US" b="1" dirty="0"/>
              <a:t>Consumers</a:t>
            </a:r>
            <a:r>
              <a:rPr lang="en-US" dirty="0"/>
              <a:t> were the highest revenue generating segment at </a:t>
            </a:r>
            <a:r>
              <a:rPr lang="en-US" b="1" dirty="0"/>
              <a:t>$1,161,401.35</a:t>
            </a:r>
            <a:r>
              <a:rPr lang="en-US" dirty="0"/>
              <a:t>, followed by Corporate at </a:t>
            </a:r>
            <a:r>
              <a:rPr lang="en-US" b="1" dirty="0"/>
              <a:t>$706,146.37</a:t>
            </a:r>
            <a:r>
              <a:rPr lang="en-US" dirty="0"/>
              <a:t> and Home Office at </a:t>
            </a:r>
            <a:r>
              <a:rPr lang="en-US" b="1" dirty="0"/>
              <a:t>$429,653.15</a:t>
            </a:r>
            <a:r>
              <a:rPr lang="en-US" dirty="0"/>
              <a:t>, confirming that the majority of customers fall under the consumer segment.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19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2498-C5A4-A0EB-B519-38A46235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  <a:t>impact of discount on revenue and orders made</a:t>
            </a:r>
            <a:b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endParaRPr lang="en-US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04823-E461-537C-A21E-0785CFBA8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50498"/>
            <a:ext cx="5181600" cy="482646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CASE</a:t>
            </a:r>
          </a:p>
          <a:p>
            <a:r>
              <a:rPr lang="en-US" dirty="0"/>
              <a:t>    WHEN Discount = 0            THEN '0% - No Discount'</a:t>
            </a:r>
          </a:p>
          <a:p>
            <a:r>
              <a:rPr lang="en-US" dirty="0"/>
              <a:t>    WHEN Discount &lt;= 0.10        THEN '1–10%'</a:t>
            </a:r>
          </a:p>
          <a:p>
            <a:r>
              <a:rPr lang="en-US" dirty="0"/>
              <a:t>    WHEN Discount &lt;= 0.20        THEN '11–20%'</a:t>
            </a:r>
          </a:p>
          <a:p>
            <a:r>
              <a:rPr lang="en-US" dirty="0"/>
              <a:t>    WHEN Discount &lt;= 0.40        THEN '21–40%'</a:t>
            </a:r>
          </a:p>
          <a:p>
            <a:r>
              <a:rPr lang="en-US" dirty="0"/>
              <a:t>    ELSE '40%+ Heavy Discount'</a:t>
            </a:r>
          </a:p>
          <a:p>
            <a:r>
              <a:rPr lang="en-US" dirty="0"/>
              <a:t>  END AS </a:t>
            </a:r>
            <a:r>
              <a:rPr lang="en-US" dirty="0" err="1"/>
              <a:t>Discount_Band</a:t>
            </a:r>
            <a:r>
              <a:rPr lang="en-US" dirty="0"/>
              <a:t>,</a:t>
            </a:r>
          </a:p>
          <a:p>
            <a:r>
              <a:rPr lang="en-US" dirty="0"/>
              <a:t>  COUNT(DISTINCT </a:t>
            </a:r>
            <a:r>
              <a:rPr lang="en-US" dirty="0" err="1"/>
              <a:t>Order_ID</a:t>
            </a:r>
            <a:r>
              <a:rPr lang="en-US" dirty="0"/>
              <a:t>)       AS </a:t>
            </a:r>
            <a:r>
              <a:rPr lang="en-US" dirty="0" err="1"/>
              <a:t>Total_Orders</a:t>
            </a:r>
            <a:r>
              <a:rPr lang="en-US" dirty="0"/>
              <a:t>,</a:t>
            </a:r>
          </a:p>
          <a:p>
            <a:r>
              <a:rPr lang="en-US" dirty="0"/>
              <a:t>  ROUND(SUM(Sales), 2)           AS </a:t>
            </a:r>
            <a:r>
              <a:rPr lang="en-US" dirty="0" err="1"/>
              <a:t>Total_Revenue</a:t>
            </a:r>
            <a:r>
              <a:rPr lang="en-US" dirty="0"/>
              <a:t>,</a:t>
            </a:r>
          </a:p>
          <a:p>
            <a:r>
              <a:rPr lang="en-US" dirty="0"/>
              <a:t>  ROUND(SUM(Profit), 2)          AS </a:t>
            </a:r>
            <a:r>
              <a:rPr lang="en-US" dirty="0" err="1"/>
              <a:t>Total_Profit</a:t>
            </a:r>
            <a:r>
              <a:rPr lang="en-US" dirty="0"/>
              <a:t>,</a:t>
            </a:r>
          </a:p>
          <a:p>
            <a:r>
              <a:rPr lang="en-US" dirty="0"/>
              <a:t>  ROUND(AVG(Profit), 2)          AS </a:t>
            </a:r>
            <a:r>
              <a:rPr lang="en-US" dirty="0" err="1"/>
              <a:t>Avg_Profit_Per_Order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Discount_Band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Total_Profit</a:t>
            </a:r>
            <a:r>
              <a:rPr lang="en-US" dirty="0"/>
              <a:t> DESC;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503C6B-DAB1-3DFF-C6C5-210C194D54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589650"/>
            <a:ext cx="5334000" cy="28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80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FDBC2-30E3-6A07-FD32-23D07A9D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Discount Impact on 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7333-6A71-3FDA-3B75-78BC24EC3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Regarding discounts, </a:t>
            </a:r>
            <a:r>
              <a:rPr lang="en-US" b="1" dirty="0"/>
              <a:t>non-discounted items</a:t>
            </a:r>
            <a:r>
              <a:rPr lang="en-US" dirty="0"/>
              <a:t> generated the highest revenue at </a:t>
            </a:r>
            <a:r>
              <a:rPr lang="en-US" b="1" dirty="0"/>
              <a:t>$1,087,908.47</a:t>
            </a:r>
            <a:r>
              <a:rPr lang="en-US" dirty="0"/>
              <a:t>, while heavily discounted items recorded the least at </a:t>
            </a:r>
            <a:r>
              <a:rPr lang="en-US" b="1" dirty="0"/>
              <a:t>$128,632.25</a:t>
            </a:r>
            <a:r>
              <a:rPr lang="en-US" dirty="0"/>
              <a:t>, suggesting limited awareness or reach of discount campaigns.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539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CEA8-F6A5-6896-F5C6-BB30A4C7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highlight>
                  <a:srgbClr val="00FF00"/>
                </a:highlight>
              </a:rPr>
              <a:t>region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5CAA8-B702-845F-716F-36297C354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33378"/>
            <a:ext cx="5181600" cy="464358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Region,</a:t>
            </a:r>
          </a:p>
          <a:p>
            <a:r>
              <a:rPr lang="en-US" dirty="0"/>
              <a:t>  COUNT(DISTINCT </a:t>
            </a:r>
            <a:r>
              <a:rPr lang="en-US" dirty="0" err="1"/>
              <a:t>Order_ID</a:t>
            </a:r>
            <a:r>
              <a:rPr lang="en-US" dirty="0"/>
              <a:t>)       AS </a:t>
            </a:r>
            <a:r>
              <a:rPr lang="en-US" dirty="0" err="1"/>
              <a:t>Total_Orders</a:t>
            </a:r>
            <a:r>
              <a:rPr lang="en-US" dirty="0"/>
              <a:t>,</a:t>
            </a:r>
          </a:p>
          <a:p>
            <a:r>
              <a:rPr lang="en-US" dirty="0"/>
              <a:t>  ROUND(SUM(Sales), 2)           AS </a:t>
            </a:r>
            <a:r>
              <a:rPr lang="en-US" dirty="0" err="1"/>
              <a:t>Total_Revenue</a:t>
            </a:r>
            <a:r>
              <a:rPr lang="en-US" dirty="0"/>
              <a:t>,</a:t>
            </a:r>
          </a:p>
          <a:p>
            <a:r>
              <a:rPr lang="en-US" dirty="0"/>
              <a:t>  ROUND(SUM(Profit), 2)          AS </a:t>
            </a:r>
            <a:r>
              <a:rPr lang="en-US" dirty="0" err="1"/>
              <a:t>Total_Profit</a:t>
            </a:r>
            <a:r>
              <a:rPr lang="en-US" dirty="0"/>
              <a:t>,</a:t>
            </a:r>
          </a:p>
          <a:p>
            <a:r>
              <a:rPr lang="en-US" dirty="0"/>
              <a:t>  ROUND(SUM(Profit)/SUM(Sales)*100, 2) AS </a:t>
            </a:r>
            <a:r>
              <a:rPr lang="en-US" dirty="0" err="1"/>
              <a:t>Profit_Margin_Pct</a:t>
            </a:r>
            <a:r>
              <a:rPr lang="en-US" dirty="0"/>
              <a:t>,</a:t>
            </a:r>
          </a:p>
          <a:p>
            <a:r>
              <a:rPr lang="en-US" dirty="0"/>
              <a:t>  COUNT(DISTINCT </a:t>
            </a:r>
            <a:r>
              <a:rPr lang="en-US" dirty="0" err="1"/>
              <a:t>Customer_ID</a:t>
            </a:r>
            <a:r>
              <a:rPr lang="en-US" dirty="0"/>
              <a:t>)    AS </a:t>
            </a:r>
            <a:r>
              <a:rPr lang="en-US" dirty="0" err="1"/>
              <a:t>Unique_Customers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kalundusalestable</a:t>
            </a:r>
            <a:endParaRPr lang="en-US" dirty="0"/>
          </a:p>
          <a:p>
            <a:r>
              <a:rPr lang="en-US" dirty="0"/>
              <a:t>GROUP BY Region</a:t>
            </a:r>
          </a:p>
          <a:p>
            <a:r>
              <a:rPr lang="en-US" dirty="0"/>
              <a:t>ORDER BY </a:t>
            </a:r>
            <a:r>
              <a:rPr lang="en-US" dirty="0" err="1"/>
              <a:t>Total_Profit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8F19D3-4710-6DE3-5905-44E43B3680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91508"/>
            <a:ext cx="5181600" cy="23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13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614E-EC0A-2D08-892C-51D98920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Regional Sales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709A7-60A5-E755-CCA6-69DE164E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West region</a:t>
            </a:r>
            <a:r>
              <a:rPr lang="en-US" dirty="0"/>
              <a:t> led regionally with </a:t>
            </a:r>
            <a:r>
              <a:rPr lang="en-US" b="1" dirty="0"/>
              <a:t>$725,457.82</a:t>
            </a:r>
            <a:r>
              <a:rPr lang="en-US" dirty="0"/>
              <a:t>, while the </a:t>
            </a:r>
            <a:r>
              <a:rPr lang="en-US" b="1" dirty="0"/>
              <a:t>Central region</a:t>
            </a:r>
            <a:r>
              <a:rPr lang="en-US" dirty="0"/>
              <a:t> recorded the lowest at </a:t>
            </a:r>
            <a:r>
              <a:rPr lang="en-US" b="1" dirty="0"/>
              <a:t>$501,239.36</a:t>
            </a:r>
            <a:r>
              <a:rPr lang="en-US" dirty="0"/>
              <a:t>, indicating stronger demand and higher value purchasing in the West.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79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1856</TotalTime>
  <Words>1655</Words>
  <Application>Microsoft Office PowerPoint</Application>
  <PresentationFormat>Widescreen</PresentationFormat>
  <Paragraphs>191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USA Retail Sales Performance Analysis (2011–2014) </vt:lpstr>
      <vt:lpstr>KPI’S Total Revenue</vt:lpstr>
      <vt:lpstr>Total Quantity sold </vt:lpstr>
      <vt:lpstr>Count of customers</vt:lpstr>
      <vt:lpstr>Number of orders</vt:lpstr>
      <vt:lpstr>Total Profit </vt:lpstr>
      <vt:lpstr>Profit Margin</vt:lpstr>
      <vt:lpstr>average order value</vt:lpstr>
      <vt:lpstr>Executive Sales  Summary</vt:lpstr>
      <vt:lpstr>Top 10 Cities that generates most revenue</vt:lpstr>
      <vt:lpstr>Top 10 cities that sells most units</vt:lpstr>
      <vt:lpstr>Regional City Revenue Breakdown</vt:lpstr>
      <vt:lpstr>Category that generates most revenue </vt:lpstr>
      <vt:lpstr>units sold by category </vt:lpstr>
      <vt:lpstr>revenue by sub_category</vt:lpstr>
      <vt:lpstr>units sold by subcategory</vt:lpstr>
      <vt:lpstr>Product Category Performance</vt:lpstr>
      <vt:lpstr>Revenue generated per day </vt:lpstr>
      <vt:lpstr>Revenue generated per month </vt:lpstr>
      <vt:lpstr>MOM Growth</vt:lpstr>
      <vt:lpstr>Temporal Sales Trends</vt:lpstr>
      <vt:lpstr>YOY GROWTH</vt:lpstr>
      <vt:lpstr>Annual Revenue Growth Analysis</vt:lpstr>
      <vt:lpstr>ship mode is most used and most profitable </vt:lpstr>
      <vt:lpstr>Shipping Preference Insights</vt:lpstr>
      <vt:lpstr>Segment that drives most value </vt:lpstr>
      <vt:lpstr>Top 10 Customers That generates most revenue</vt:lpstr>
      <vt:lpstr>Customer Segment Performance</vt:lpstr>
      <vt:lpstr>impact of discount on revenue and orders made </vt:lpstr>
      <vt:lpstr>Discount Impact on Revenue</vt:lpstr>
      <vt:lpstr>region performance</vt:lpstr>
      <vt:lpstr>Regional Sales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Beatrice Wakonyo</dc:creator>
  <cp:lastModifiedBy>Beatrice Wakonyo</cp:lastModifiedBy>
  <cp:revision>4</cp:revision>
  <dcterms:created xsi:type="dcterms:W3CDTF">2026-03-08T13:49:19Z</dcterms:created>
  <dcterms:modified xsi:type="dcterms:W3CDTF">2026-03-10T21:56:07Z</dcterms:modified>
</cp:coreProperties>
</file>